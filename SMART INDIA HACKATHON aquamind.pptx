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5A15D-757B-4511-A9A4-C187C9A7AEE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8E81B-8AE5-49E5-A14B-C4D8E47A8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39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13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5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0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8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3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3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8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24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6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8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9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5B7AF-CEAB-43A8-A757-20930436910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BC8F4-102F-4513-AFB5-E4FA14E6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01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hef.com/learn/course/python" TargetMode="External"/><Relationship Id="rId2" Type="http://schemas.openxmlformats.org/officeDocument/2006/relationships/hyperlink" Target="https://youtu.be/pOB8-pi796I?si=WMq0YsQifSBO8X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5835" y="107577"/>
            <a:ext cx="11663082" cy="95474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95834" y="1223682"/>
            <a:ext cx="7540581" cy="5378823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ID –SIH26180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Title-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AquaMind Sentinel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-That decides every drop before it falls.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Smart Agriculture</a:t>
            </a:r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Software+hardware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Team AquaMind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15" y="1709423"/>
            <a:ext cx="3991532" cy="4515480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608" y="-53788"/>
            <a:ext cx="1623279" cy="7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2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712694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IN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1706" y="1021976"/>
            <a:ext cx="9520518" cy="566121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01706" y="1021976"/>
            <a:ext cx="4773706" cy="28731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Understanding problem </a:t>
            </a:r>
            <a:r>
              <a:rPr lang="en-US" sz="2400" dirty="0">
                <a:latin typeface="Algerian" panose="04020705040A02060702" pitchFamily="82" charset="0"/>
              </a:rPr>
              <a:t>: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1.Water Wastage: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2.Lack of Monitoring: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3.Unpredictable Weather: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4.Manual Dependency: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5.Limited Intelligence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98141" y="1021976"/>
            <a:ext cx="4424083" cy="28731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PRopoSED SOLUTION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: 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1.Real-Time 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2.Smart Irrigation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Weather Integration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4.Remote Monitoring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5.Automatic Alerts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706" y="4049805"/>
            <a:ext cx="9520517" cy="2633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1.AI-Based Decisions: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Combines sensor and weather data for intelligent irrigation decisions.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2.Predictive Irrigation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Avoids watering when rainfall is expected, saving water.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3.Multisensor Intelligence: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Integrates soil moisture, temperature, humidity, rain sensor, and Weather API.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4.Autonomous Operation: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Enables automatic irrigation with minimum human intervention.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5.Location-Based Weather: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Provides region-specific weather information for better decisions.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6.Water-Efficient &amp; Scalable: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Suitable for farms and nurseries with scope for larger deployment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705" y="4054647"/>
            <a:ext cx="38189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OUR UNIQUE SOLUTION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: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  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922" y="1021976"/>
            <a:ext cx="2152650" cy="12137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921" y="2458570"/>
            <a:ext cx="2152651" cy="13163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921" y="3938576"/>
            <a:ext cx="2152652" cy="13163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921" y="5402894"/>
            <a:ext cx="2152652" cy="1280294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2000" y="60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Team</a:t>
            </a:r>
          </a:p>
          <a:p>
            <a:pPr algn="ctr"/>
            <a:r>
              <a:rPr lang="en-US" sz="1200" b="1" dirty="0"/>
              <a:t>AquaMind</a:t>
            </a:r>
            <a:endParaRPr lang="en-IN" sz="1200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960" y="32628"/>
            <a:ext cx="1623279" cy="7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1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1424" y="0"/>
            <a:ext cx="5715000" cy="5089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841" y="2398059"/>
            <a:ext cx="7785846" cy="333872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51" y="876484"/>
            <a:ext cx="7194178" cy="4796119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608" y="-53788"/>
            <a:ext cx="1623279" cy="766482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472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sz="1200" b="1" dirty="0"/>
              <a:t>AquaMind</a:t>
            </a:r>
            <a:endParaRPr lang="en-IN" sz="1200" b="1" dirty="0"/>
          </a:p>
        </p:txBody>
      </p:sp>
      <p:sp>
        <p:nvSpPr>
          <p:cNvPr id="14" name="Rectangle 13"/>
          <p:cNvSpPr/>
          <p:nvPr/>
        </p:nvSpPr>
        <p:spPr>
          <a:xfrm>
            <a:off x="0" y="5845361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1.Sensors: Soil-moisture</a:t>
            </a:r>
            <a:endParaRPr lang="en-IN" sz="1200" dirty="0"/>
          </a:p>
        </p:txBody>
      </p:sp>
      <p:sp>
        <p:nvSpPr>
          <p:cNvPr id="15" name="Rectangle 14"/>
          <p:cNvSpPr/>
          <p:nvPr/>
        </p:nvSpPr>
        <p:spPr>
          <a:xfrm>
            <a:off x="1966959" y="5845361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2.AI &amp; Machine Learning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5900877" y="5845359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4.Weather API</a:t>
            </a:r>
            <a:endParaRPr lang="en-IN" sz="1200" dirty="0"/>
          </a:p>
        </p:txBody>
      </p:sp>
      <p:sp>
        <p:nvSpPr>
          <p:cNvPr id="20" name="Rectangle 19"/>
          <p:cNvSpPr/>
          <p:nvPr/>
        </p:nvSpPr>
        <p:spPr>
          <a:xfrm>
            <a:off x="3933918" y="5845360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3.ESP32 / Edge Computing</a:t>
            </a:r>
            <a:endParaRPr lang="en-IN" sz="1200" dirty="0"/>
          </a:p>
        </p:txBody>
      </p:sp>
      <p:sp>
        <p:nvSpPr>
          <p:cNvPr id="24" name="Rectangle 23"/>
          <p:cNvSpPr/>
          <p:nvPr/>
        </p:nvSpPr>
        <p:spPr>
          <a:xfrm>
            <a:off x="7867836" y="5845359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5.Automatic Irrigation</a:t>
            </a:r>
            <a:endParaRPr lang="en-IN" sz="1200" dirty="0"/>
          </a:p>
        </p:txBody>
      </p:sp>
      <p:sp>
        <p:nvSpPr>
          <p:cNvPr id="25" name="Rectangle 24"/>
          <p:cNvSpPr/>
          <p:nvPr/>
        </p:nvSpPr>
        <p:spPr>
          <a:xfrm>
            <a:off x="-1" y="6343904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9834795" y="5845359"/>
            <a:ext cx="1909481" cy="389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6.IoT &amp; Cloud Dashboard</a:t>
            </a:r>
            <a:endParaRPr lang="en-IN" sz="1200" dirty="0"/>
          </a:p>
        </p:txBody>
      </p:sp>
      <p:sp>
        <p:nvSpPr>
          <p:cNvPr id="28" name="Rectangle 27"/>
          <p:cNvSpPr/>
          <p:nvPr/>
        </p:nvSpPr>
        <p:spPr>
          <a:xfrm>
            <a:off x="0" y="6408082"/>
            <a:ext cx="19094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7.Regional &amp; Soil Intelligence</a:t>
            </a:r>
            <a:endParaRPr lang="en-IN" sz="1100" dirty="0"/>
          </a:p>
        </p:txBody>
      </p:sp>
      <p:pic>
        <p:nvPicPr>
          <p:cNvPr id="30" name="Content Placeholder 29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617" y="739587"/>
            <a:ext cx="2796991" cy="4681777"/>
          </a:xfrm>
        </p:spPr>
      </p:pic>
      <p:sp>
        <p:nvSpPr>
          <p:cNvPr id="33" name="Rectangle 32"/>
          <p:cNvSpPr/>
          <p:nvPr/>
        </p:nvSpPr>
        <p:spPr>
          <a:xfrm>
            <a:off x="10609729" y="807333"/>
            <a:ext cx="1487158" cy="48404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“What Happens in 10 Seconds?”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Show the entire project in a single timeline: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0s → Sensor reads soil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2s → ESP32 processes data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4s → Weather/rain condition checked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6s → AI makes decision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8s → Relay responds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10s → </a:t>
            </a:r>
            <a:r>
              <a:rPr lang="en-US" sz="1400" dirty="0" err="1">
                <a:solidFill>
                  <a:schemeClr val="tx1"/>
                </a:solidFill>
              </a:rPr>
              <a:t>Blynk</a:t>
            </a:r>
            <a:r>
              <a:rPr lang="en-US" sz="1400" dirty="0">
                <a:solidFill>
                  <a:schemeClr val="tx1"/>
                </a:solidFill>
              </a:rPr>
              <a:t> dashboard updates</a:t>
            </a:r>
          </a:p>
        </p:txBody>
      </p:sp>
    </p:spTree>
    <p:extLst>
      <p:ext uri="{BB962C8B-B14F-4D97-AF65-F5344CB8AC3E}">
        <p14:creationId xmlns:p14="http://schemas.microsoft.com/office/powerpoint/2010/main" val="298759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8802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32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473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sz="1200" b="1" dirty="0"/>
              <a:t>AquaMind</a:t>
            </a:r>
            <a:endParaRPr lang="en-IN" sz="1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60" y="0"/>
            <a:ext cx="1623279" cy="7664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939" y="1723116"/>
            <a:ext cx="4760259" cy="1781734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5238"/>
            <a:ext cx="3639274" cy="5592762"/>
          </a:xfr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65238"/>
            <a:ext cx="3505533" cy="560620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939" y="4639938"/>
            <a:ext cx="4649261" cy="184154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85819" y="941294"/>
            <a:ext cx="3267635" cy="323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Feasibility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77148" y="924813"/>
            <a:ext cx="3267635" cy="323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Viability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93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012" y="0"/>
            <a:ext cx="10515600" cy="70905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sz="32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9892" y="3262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sz="1200" b="1" dirty="0"/>
              <a:t>AquaMind</a:t>
            </a:r>
            <a:endParaRPr lang="en-IN" sz="1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960" y="32628"/>
            <a:ext cx="1623279" cy="7664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2389" y="872590"/>
            <a:ext cx="5459506" cy="3215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</a:t>
            </a:r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Impact :</a:t>
            </a:r>
          </a:p>
          <a:p>
            <a:r>
              <a:rPr lang="en-US" b="1" dirty="0">
                <a:solidFill>
                  <a:schemeClr val="tx1"/>
                </a:solidFill>
              </a:rPr>
              <a:t>1.Water Conservation </a:t>
            </a:r>
            <a:r>
              <a:rPr lang="en-US" dirty="0">
                <a:solidFill>
                  <a:schemeClr val="tx1"/>
                </a:solidFill>
              </a:rPr>
              <a:t>– Reduces unnecessary water usage through precise irrigation.</a:t>
            </a:r>
          </a:p>
          <a:p>
            <a:r>
              <a:rPr lang="en-US" b="1" dirty="0">
                <a:solidFill>
                  <a:schemeClr val="tx1"/>
                </a:solidFill>
              </a:rPr>
              <a:t>2.Higher Crop Productivity </a:t>
            </a:r>
            <a:r>
              <a:rPr lang="en-US" dirty="0">
                <a:solidFill>
                  <a:schemeClr val="tx1"/>
                </a:solidFill>
              </a:rPr>
              <a:t>– Provides crops with the right amount of water at the right time.</a:t>
            </a:r>
          </a:p>
          <a:p>
            <a:r>
              <a:rPr lang="en-US" b="1" dirty="0">
                <a:solidFill>
                  <a:schemeClr val="tx1"/>
                </a:solidFill>
              </a:rPr>
              <a:t>3.Sustainable Farming </a:t>
            </a:r>
            <a:r>
              <a:rPr lang="en-US" dirty="0">
                <a:solidFill>
                  <a:schemeClr val="tx1"/>
                </a:solidFill>
              </a:rPr>
              <a:t>– Promotes efficient use of water and other agricultural resources.</a:t>
            </a:r>
          </a:p>
          <a:p>
            <a:r>
              <a:rPr lang="en-US" b="1" dirty="0">
                <a:solidFill>
                  <a:schemeClr val="tx1"/>
                </a:solidFill>
              </a:rPr>
              <a:t>4.Climate Adaptability </a:t>
            </a:r>
            <a:r>
              <a:rPr lang="en-US" dirty="0">
                <a:solidFill>
                  <a:schemeClr val="tx1"/>
                </a:solidFill>
              </a:rPr>
              <a:t>– Uses weather forecasts to adjust irrigation during rainfall, heat, or changing 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872590"/>
            <a:ext cx="5558118" cy="3215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BENEFIT :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1.Automatic Irrigation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Reduces the need for manual control of water pumps.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2.Real-Time Monitoring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Farmers can monitor soil moisture, temperature, humidity and irrigation status remotely.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3.Cost Reduction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Saves water, electricity and labor costs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4.Smart Decision Making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AI combines sensor and weather data to provide more accurate irrigation decisions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12" y="4394884"/>
            <a:ext cx="6053280" cy="23151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96635" y="4251442"/>
            <a:ext cx="1922930" cy="25381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Useful :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Helps farmers make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Better irrigation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Decisions and improve crop growth.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88108" y="4251442"/>
            <a:ext cx="1922930" cy="25381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95684" y="4546030"/>
            <a:ext cx="16695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Economical Benefits: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Saves water , electricity,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Farming cost.</a:t>
            </a: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50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459" y="94129"/>
            <a:ext cx="10515600" cy="64181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835" y="1075764"/>
            <a:ext cx="11443447" cy="5607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1.Problem statement : </a:t>
            </a:r>
          </a:p>
          <a:p>
            <a:pPr marL="0" indent="0">
              <a:buNone/>
            </a:pPr>
            <a:r>
              <a:rPr lang="en-US" sz="2000" dirty="0"/>
              <a:t>“The problem was identified through real-world observations and interactions with farmers, where we observed water wastage caused by irrigation based on fixed schedules rather than actual soil and weather conditions.”</a:t>
            </a:r>
            <a:endParaRPr lang="en-US" sz="2000" b="1" dirty="0"/>
          </a:p>
          <a:p>
            <a:pPr marL="0" indent="0">
              <a:buNone/>
            </a:pPr>
            <a:r>
              <a:rPr lang="en-IN" sz="2000" dirty="0"/>
              <a:t>2. Ali, </a:t>
            </a:r>
            <a:r>
              <a:rPr lang="en-IN" sz="2000" dirty="0" err="1"/>
              <a:t>Awais</a:t>
            </a:r>
            <a:r>
              <a:rPr lang="en-IN" sz="2000" dirty="0"/>
              <a:t>, </a:t>
            </a:r>
            <a:r>
              <a:rPr lang="en-IN" sz="2000" dirty="0" err="1"/>
              <a:t>Tajamul</a:t>
            </a:r>
            <a:r>
              <a:rPr lang="en-IN" sz="2000" dirty="0"/>
              <a:t> </a:t>
            </a:r>
            <a:r>
              <a:rPr lang="en-IN" sz="2000" dirty="0" err="1"/>
              <a:t>Hussain</a:t>
            </a:r>
            <a:r>
              <a:rPr lang="en-IN" sz="2000" dirty="0"/>
              <a:t>, and </a:t>
            </a:r>
            <a:r>
              <a:rPr lang="en-IN" sz="2000" dirty="0" err="1"/>
              <a:t>Azlan</a:t>
            </a:r>
            <a:r>
              <a:rPr lang="en-IN" sz="2000" dirty="0"/>
              <a:t> </a:t>
            </a:r>
            <a:r>
              <a:rPr lang="en-IN" sz="2000" dirty="0" err="1"/>
              <a:t>Zahid</a:t>
            </a:r>
            <a:r>
              <a:rPr lang="en-IN" sz="2000" dirty="0"/>
              <a:t>. "Smart irrigation technologies and prospects for enhancing water use efficiency for sustainable agriculture." </a:t>
            </a:r>
            <a:r>
              <a:rPr lang="en-IN" sz="2000" dirty="0" err="1"/>
              <a:t>AgriEngineering</a:t>
            </a:r>
            <a:r>
              <a:rPr lang="en-IN" sz="2000" dirty="0"/>
              <a:t> 7.4 (2025):106. [https://www.mdpi.com/2624-7402/7/4/106]</a:t>
            </a:r>
          </a:p>
          <a:p>
            <a:pPr marL="0" indent="0">
              <a:buNone/>
            </a:pPr>
            <a:r>
              <a:rPr lang="en-IN" sz="2000" dirty="0"/>
              <a:t>3. </a:t>
            </a:r>
            <a:r>
              <a:rPr lang="en-IN" sz="2000" dirty="0" err="1"/>
              <a:t>Blessy</a:t>
            </a:r>
            <a:r>
              <a:rPr lang="en-IN" sz="2000" dirty="0"/>
              <a:t>, J. </a:t>
            </a:r>
            <a:r>
              <a:rPr lang="en-IN" sz="2000" dirty="0" err="1"/>
              <a:t>Angelin</a:t>
            </a:r>
            <a:r>
              <a:rPr lang="en-IN" sz="2000" dirty="0"/>
              <a:t>. "Smart irrigation system techniques using artificial intelligence and </a:t>
            </a:r>
            <a:r>
              <a:rPr lang="en-IN" sz="2000" dirty="0" err="1"/>
              <a:t>IoT</a:t>
            </a:r>
            <a:r>
              <a:rPr lang="en-IN" sz="2000" dirty="0"/>
              <a:t>." 2021 Third International Conference on Intelligent Communication Technologies and Virtual Mobile </a:t>
            </a:r>
            <a:r>
              <a:rPr lang="en-IN" sz="2000" dirty="0" err="1"/>
              <a:t>Networ</a:t>
            </a:r>
            <a:r>
              <a:rPr lang="en-IN" sz="2000" dirty="0"/>
              <a:t>): </a:t>
            </a:r>
            <a:r>
              <a:rPr lang="en-IN" sz="2000" dirty="0" err="1"/>
              <a:t>ks</a:t>
            </a:r>
            <a:r>
              <a:rPr lang="en-IN" sz="2000" dirty="0"/>
              <a:t> (ICICV). IEEE, 2021.[https://ieeexplore.ieee.org/abstract/document/9388444/]</a:t>
            </a:r>
          </a:p>
          <a:p>
            <a:pPr marL="0" indent="0">
              <a:buNone/>
            </a:pPr>
            <a:r>
              <a:rPr lang="en-IN" sz="2000" dirty="0"/>
              <a:t>4.Kaushik, </a:t>
            </a:r>
            <a:r>
              <a:rPr lang="en-IN" sz="2000" dirty="0" err="1"/>
              <a:t>Shambhavi</a:t>
            </a:r>
            <a:r>
              <a:rPr lang="en-IN" sz="2000" dirty="0"/>
              <a:t>, and Karan Singh. "AI-driven smart irrigation and resource optimization for sustainable precision agriculture." Europe 250 (2025): 70.[https://www.jsiar.com/2025-May/JSIAR-M-25-05444.pdf]</a:t>
            </a:r>
          </a:p>
          <a:p>
            <a:pPr marL="0" indent="0">
              <a:buNone/>
            </a:pPr>
            <a:r>
              <a:rPr lang="en-US" sz="2000" dirty="0"/>
              <a:t>5. </a:t>
            </a:r>
            <a:r>
              <a:rPr lang="en-US" sz="2000" dirty="0" err="1"/>
              <a:t>ChatGPT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6. Perplexity.</a:t>
            </a:r>
          </a:p>
          <a:p>
            <a:pPr marL="0" indent="0">
              <a:buNone/>
            </a:pPr>
            <a:r>
              <a:rPr lang="en-US" sz="2000" dirty="0"/>
              <a:t>7. </a:t>
            </a:r>
            <a:r>
              <a:rPr lang="en-US" sz="2000" dirty="0">
                <a:hlinkClick r:id="rId2"/>
              </a:rPr>
              <a:t>https://youtu.be/pOB8-pi796I?si=WMq0YsQifSBO8Xcs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8. </a:t>
            </a:r>
            <a:r>
              <a:rPr lang="en-US" sz="2000" dirty="0">
                <a:hlinkClick r:id="rId3"/>
              </a:rPr>
              <a:t>https://www.codechef.com/learn/course/python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9892" y="8390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sz="1200" b="1" dirty="0"/>
              <a:t>AquaMind</a:t>
            </a:r>
            <a:endParaRPr lang="en-IN" sz="1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960" y="32628"/>
            <a:ext cx="1623279" cy="7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2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672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Garamond</vt:lpstr>
      <vt:lpstr>Times New Roman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Sujit</dc:creator>
  <cp:lastModifiedBy>Darshana Gavade</cp:lastModifiedBy>
  <cp:revision>26</cp:revision>
  <dcterms:created xsi:type="dcterms:W3CDTF">2026-08-31T14:01:07Z</dcterms:created>
  <dcterms:modified xsi:type="dcterms:W3CDTF">2026-09-25T18:12:48Z</dcterms:modified>
</cp:coreProperties>
</file>