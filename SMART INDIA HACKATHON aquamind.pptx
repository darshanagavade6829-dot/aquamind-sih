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D5A15D-757B-4511-A9A4-C187C9A7AEED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8E81B-8AE5-49E5-A14B-C4D8E47A88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8392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3136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1451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7100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6882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534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033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078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4248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664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4085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9293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5B7AF-CEAB-43A8-A757-209304369108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BC8F4-102F-4513-AFB5-E4FA14E678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6019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dechef.com/learn/course/python" TargetMode="External"/><Relationship Id="rId2" Type="http://schemas.openxmlformats.org/officeDocument/2006/relationships/hyperlink" Target="https://youtu.be/pOB8-pi796I?si=WMq0YsQifSBO8Xc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95835" y="107577"/>
            <a:ext cx="11663082" cy="954741"/>
          </a:xfrm>
        </p:spPr>
        <p:txBody>
          <a:bodyPr/>
          <a:lstStyle/>
          <a:p>
            <a:pPr algn="ctr"/>
            <a:r>
              <a:rPr lang="en-US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295834" y="1223682"/>
            <a:ext cx="7540581" cy="5378823"/>
          </a:xfrm>
        </p:spPr>
        <p:txBody>
          <a:bodyPr>
            <a:normAutofit fontScale="77500" lnSpcReduction="20000"/>
          </a:bodyPr>
          <a:lstStyle/>
          <a:p>
            <a:endParaRPr lang="en-US" dirty="0" smtClean="0"/>
          </a:p>
          <a:p>
            <a:pPr marL="285750" indent="-285750" algn="just">
              <a:lnSpc>
                <a:spcPct val="200000"/>
              </a:lnSpc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Problem Statement </a:t>
            </a:r>
            <a:r>
              <a:rPr lang="en-US" sz="2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Title-</a:t>
            </a: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 smtClean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AquaMind Sentinel</a:t>
            </a: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-That decides every drop before it falls.</a:t>
            </a:r>
            <a:endParaRPr lang="en-US" sz="2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Smart Agriculture</a:t>
            </a:r>
          </a:p>
          <a:p>
            <a:pPr marL="285750" indent="-285750" algn="just">
              <a:lnSpc>
                <a:spcPct val="200000"/>
              </a:lnSpc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Software+hardware</a:t>
            </a:r>
            <a:endParaRPr lang="en-US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</a:pP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Team AquaMind</a:t>
            </a:r>
            <a:endParaRPr lang="en-IN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6415" y="1709423"/>
            <a:ext cx="3991532" cy="4515480"/>
          </a:xfr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3608" y="-53788"/>
            <a:ext cx="1623279" cy="76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829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10515600" cy="712694"/>
          </a:xfrm>
        </p:spPr>
        <p:txBody>
          <a:bodyPr>
            <a:normAutofit/>
          </a:bodyPr>
          <a:lstStyle/>
          <a:p>
            <a:pPr algn="ctr"/>
            <a:r>
              <a:rPr lang="en-US" sz="3600" b="1" u="sng" dirty="0" smtClean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IN" sz="36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201706" y="1021976"/>
            <a:ext cx="9520518" cy="5661211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201706" y="1021976"/>
            <a:ext cx="4773706" cy="287318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Algerian" panose="04020705040A02060702" pitchFamily="82" charset="0"/>
              </a:rPr>
              <a:t>Understanding problem </a:t>
            </a:r>
            <a:r>
              <a:rPr lang="en-US" sz="2400" dirty="0" smtClean="0">
                <a:latin typeface="Algerian" panose="04020705040A02060702" pitchFamily="82" charset="0"/>
              </a:rPr>
              <a:t>: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1.Water Wastage: </a:t>
            </a:r>
            <a:endParaRPr lang="en-US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2.Lack of Monitoring: </a:t>
            </a:r>
            <a:endParaRPr lang="en-US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3.Unpredictable Weather: </a:t>
            </a:r>
            <a:endParaRPr lang="en-US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4.Manual Dependency: </a:t>
            </a:r>
            <a:endParaRPr lang="en-US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5.Limited Intelligence</a:t>
            </a:r>
            <a:r>
              <a:rPr lang="en-US" sz="14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endParaRPr lang="en-IN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298141" y="1021976"/>
            <a:ext cx="4424083" cy="287318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smtClean="0">
                <a:solidFill>
                  <a:schemeClr val="accent6">
                    <a:lumMod val="50000"/>
                  </a:schemeClr>
                </a:solidFill>
                <a:latin typeface="Algerian" panose="04020705040A02060702" pitchFamily="82" charset="0"/>
              </a:rPr>
              <a:t>PRopoSED SOLUTION </a:t>
            </a:r>
            <a:r>
              <a:rPr lang="en-US" sz="2000" b="1" dirty="0" smtClean="0">
                <a:solidFill>
                  <a:schemeClr val="accent6">
                    <a:lumMod val="50000"/>
                  </a:schemeClr>
                </a:solidFill>
                <a:latin typeface="Algerian" panose="04020705040A02060702" pitchFamily="82" charset="0"/>
              </a:rPr>
              <a:t>: 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1.Real-Time 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2.Smart Irrigation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3. Weather Integration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4.Remote Monitoring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5.Automatic Alerts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1706" y="4049805"/>
            <a:ext cx="9520517" cy="263338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1.AI-Based Decisions:</a:t>
            </a:r>
            <a:r>
              <a:rPr lang="en-IN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Combines sensor and weather data for intelligent irrigation decisions.</a:t>
            </a:r>
          </a:p>
          <a:p>
            <a:r>
              <a:rPr lang="en-IN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2.Predictive Irrigation</a:t>
            </a:r>
            <a:r>
              <a:rPr lang="en-IN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: Avoids watering when rainfall is expected, saving water.</a:t>
            </a:r>
          </a:p>
          <a:p>
            <a:r>
              <a:rPr lang="en-IN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3.Multisensor Intelligence: </a:t>
            </a:r>
            <a:r>
              <a:rPr lang="en-IN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Integrates soil moisture, temperature, humidity, rain sensor, and Weather API.</a:t>
            </a:r>
          </a:p>
          <a:p>
            <a:r>
              <a:rPr lang="en-IN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4.Autonomous Operation: </a:t>
            </a:r>
            <a:r>
              <a:rPr lang="en-IN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Enables automatic irrigation with minimum human intervention.</a:t>
            </a:r>
          </a:p>
          <a:p>
            <a:r>
              <a:rPr lang="en-IN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5.Location-Based Weather: </a:t>
            </a:r>
            <a:r>
              <a:rPr lang="en-IN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Provides region-specific weather information for better decisions.</a:t>
            </a:r>
          </a:p>
          <a:p>
            <a:r>
              <a:rPr lang="en-IN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6.Water-Efficient &amp; Scalable: </a:t>
            </a:r>
            <a:r>
              <a:rPr lang="en-IN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Suitable for farms and nurseries with scope for larger deployment</a:t>
            </a:r>
            <a:r>
              <a:rPr lang="en-IN" sz="16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en-IN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01705" y="4054647"/>
            <a:ext cx="381896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chemeClr val="accent6">
                    <a:lumMod val="50000"/>
                  </a:schemeClr>
                </a:solidFill>
                <a:latin typeface="Algerian" panose="04020705040A02060702" pitchFamily="82" charset="0"/>
              </a:rPr>
              <a:t>OUR UNIQUE SOLUTION </a:t>
            </a:r>
            <a:r>
              <a:rPr lang="en-US" sz="2400" b="1" dirty="0" smtClean="0">
                <a:solidFill>
                  <a:schemeClr val="accent6">
                    <a:lumMod val="50000"/>
                  </a:schemeClr>
                </a:solidFill>
                <a:latin typeface="Algerian" panose="04020705040A02060702" pitchFamily="82" charset="0"/>
              </a:rPr>
              <a:t>:</a:t>
            </a:r>
          </a:p>
          <a:p>
            <a:endParaRPr lang="en-US" sz="2400" b="1" dirty="0" smtClean="0">
              <a:solidFill>
                <a:schemeClr val="accent6">
                  <a:lumMod val="50000"/>
                </a:schemeClr>
              </a:solidFill>
              <a:latin typeface="Algerian" panose="04020705040A02060702" pitchFamily="82" charset="0"/>
            </a:endParaRPr>
          </a:p>
          <a:p>
            <a:r>
              <a:rPr lang="en-US" sz="2400" b="1" dirty="0" smtClean="0">
                <a:solidFill>
                  <a:schemeClr val="accent6">
                    <a:lumMod val="50000"/>
                  </a:schemeClr>
                </a:solidFill>
                <a:latin typeface="Algerian" panose="04020705040A02060702" pitchFamily="82" charset="0"/>
              </a:rPr>
              <a:t>  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922" y="1021976"/>
            <a:ext cx="2152650" cy="121372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921" y="2458570"/>
            <a:ext cx="2152651" cy="13163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921" y="3938576"/>
            <a:ext cx="2152652" cy="131639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921" y="5402894"/>
            <a:ext cx="2152652" cy="1280294"/>
          </a:xfrm>
          <a:prstGeom prst="rect">
            <a:avLst/>
          </a:prstGeom>
        </p:spPr>
      </p:pic>
      <p:sp>
        <p:nvSpPr>
          <p:cNvPr id="14" name="Oval 13" descr="Your startup LOGO">
            <a:extLst>
              <a:ext uri="{FF2B5EF4-FFF2-40B4-BE49-F238E27FC236}">
                <a16:creationId xmlns="" xmlns:a16="http://schemas.microsoft.com/office/drawing/2014/main" xmlns:lc="http://schemas.openxmlformats.org/drawingml/2006/lockedCanvas" id="{5DBCE864-823D-4A13-9607-5DA1F0ED5FB8}"/>
              </a:ext>
              <a:ext uri="{C183D7F6-B498-43B3-948B-1728B52AA6E4}">
                <adec:decorative xmlns:adec="http://schemas.microsoft.com/office/drawing/2017/decorative" xmlns="" xmlns:lc="http://schemas.openxmlformats.org/drawingml/2006/lockedCanvas" val="0"/>
              </a:ext>
            </a:extLst>
          </p:cNvPr>
          <p:cNvSpPr/>
          <p:nvPr/>
        </p:nvSpPr>
        <p:spPr>
          <a:xfrm>
            <a:off x="762000" y="60001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 smtClean="0"/>
              <a:t>Team</a:t>
            </a:r>
          </a:p>
          <a:p>
            <a:pPr algn="ctr"/>
            <a:r>
              <a:rPr lang="en-US" sz="1200" b="1" dirty="0" smtClean="0"/>
              <a:t>AquaMind</a:t>
            </a:r>
            <a:endParaRPr lang="en-IN" sz="1200" b="1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5960" y="32628"/>
            <a:ext cx="1623279" cy="76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114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1424" y="0"/>
            <a:ext cx="5715000" cy="508933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IN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841" y="2398059"/>
            <a:ext cx="7785846" cy="3338722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51" y="876484"/>
            <a:ext cx="7194178" cy="4796119"/>
          </a:xfr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3608" y="-53788"/>
            <a:ext cx="1623279" cy="766482"/>
          </a:xfrm>
          <a:prstGeom prst="rect">
            <a:avLst/>
          </a:prstGeom>
        </p:spPr>
      </p:pic>
      <p:sp>
        <p:nvSpPr>
          <p:cNvPr id="11" name="Oval 10" descr="Your startup LOGO">
            <a:extLst>
              <a:ext uri="{FF2B5EF4-FFF2-40B4-BE49-F238E27FC236}">
                <a16:creationId xmlns="" xmlns:a16="http://schemas.microsoft.com/office/drawing/2014/main" xmlns:lc="http://schemas.openxmlformats.org/drawingml/2006/lockedCanvas" id="{5DBCE864-823D-4A13-9607-5DA1F0ED5FB8}"/>
              </a:ext>
              <a:ext uri="{C183D7F6-B498-43B3-948B-1728B52AA6E4}">
                <adec:decorative xmlns:adec="http://schemas.microsoft.com/office/drawing/2017/decorative" xmlns="" xmlns:lc="http://schemas.openxmlformats.org/drawingml/2006/lockedCanvas" val="0"/>
              </a:ext>
            </a:extLst>
          </p:cNvPr>
          <p:cNvSpPr/>
          <p:nvPr/>
        </p:nvSpPr>
        <p:spPr>
          <a:xfrm>
            <a:off x="134472" y="0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smtClean="0"/>
              <a:t>Team</a:t>
            </a:r>
          </a:p>
          <a:p>
            <a:pPr algn="ctr"/>
            <a:r>
              <a:rPr lang="en-US" sz="1200" b="1" dirty="0" smtClean="0"/>
              <a:t>AquaMind</a:t>
            </a:r>
            <a:endParaRPr lang="en-IN" sz="1200" b="1" dirty="0"/>
          </a:p>
        </p:txBody>
      </p:sp>
      <p:sp>
        <p:nvSpPr>
          <p:cNvPr id="14" name="Rectangle 13"/>
          <p:cNvSpPr/>
          <p:nvPr/>
        </p:nvSpPr>
        <p:spPr>
          <a:xfrm>
            <a:off x="0" y="5845361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1.Sensors: Soil-moisture</a:t>
            </a:r>
            <a:endParaRPr lang="en-IN" sz="1200" dirty="0"/>
          </a:p>
        </p:txBody>
      </p:sp>
      <p:sp>
        <p:nvSpPr>
          <p:cNvPr id="15" name="Rectangle 14"/>
          <p:cNvSpPr/>
          <p:nvPr/>
        </p:nvSpPr>
        <p:spPr>
          <a:xfrm>
            <a:off x="1966959" y="5845361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2.AI &amp; Machine Learning</a:t>
            </a:r>
            <a:r>
              <a:rPr lang="en-IN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n-IN" dirty="0"/>
          </a:p>
        </p:txBody>
      </p:sp>
      <p:sp>
        <p:nvSpPr>
          <p:cNvPr id="19" name="Rectangle 18"/>
          <p:cNvSpPr/>
          <p:nvPr/>
        </p:nvSpPr>
        <p:spPr>
          <a:xfrm>
            <a:off x="5900877" y="5845359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4.Weather API</a:t>
            </a:r>
            <a:endParaRPr lang="en-IN" sz="1200" dirty="0"/>
          </a:p>
        </p:txBody>
      </p:sp>
      <p:sp>
        <p:nvSpPr>
          <p:cNvPr id="20" name="Rectangle 19"/>
          <p:cNvSpPr/>
          <p:nvPr/>
        </p:nvSpPr>
        <p:spPr>
          <a:xfrm>
            <a:off x="3933918" y="5845360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3.ESP32 / Edge Computing</a:t>
            </a:r>
            <a:endParaRPr lang="en-IN" sz="1200" dirty="0"/>
          </a:p>
        </p:txBody>
      </p:sp>
      <p:sp>
        <p:nvSpPr>
          <p:cNvPr id="24" name="Rectangle 23"/>
          <p:cNvSpPr/>
          <p:nvPr/>
        </p:nvSpPr>
        <p:spPr>
          <a:xfrm>
            <a:off x="7867836" y="5845359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5.Automatic Irrigation</a:t>
            </a:r>
            <a:endParaRPr lang="en-IN" sz="1200" dirty="0"/>
          </a:p>
        </p:txBody>
      </p:sp>
      <p:sp>
        <p:nvSpPr>
          <p:cNvPr id="25" name="Rectangle 24"/>
          <p:cNvSpPr/>
          <p:nvPr/>
        </p:nvSpPr>
        <p:spPr>
          <a:xfrm>
            <a:off x="-1" y="6343904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Rectangle 25"/>
          <p:cNvSpPr/>
          <p:nvPr/>
        </p:nvSpPr>
        <p:spPr>
          <a:xfrm>
            <a:off x="9834795" y="5845359"/>
            <a:ext cx="1909481" cy="389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6.IoT &amp; Cloud Dashboard</a:t>
            </a:r>
            <a:endParaRPr lang="en-IN" sz="1200" dirty="0"/>
          </a:p>
        </p:txBody>
      </p:sp>
      <p:sp>
        <p:nvSpPr>
          <p:cNvPr id="28" name="Rectangle 27"/>
          <p:cNvSpPr/>
          <p:nvPr/>
        </p:nvSpPr>
        <p:spPr>
          <a:xfrm>
            <a:off x="0" y="6408082"/>
            <a:ext cx="190948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7.Regional &amp; Soil Intelligence</a:t>
            </a:r>
            <a:endParaRPr lang="en-IN" sz="1100" dirty="0"/>
          </a:p>
        </p:txBody>
      </p:sp>
      <p:pic>
        <p:nvPicPr>
          <p:cNvPr id="30" name="Content Placeholder 29"/>
          <p:cNvPicPr>
            <a:picLocks noGrp="1" noChangeAspect="1"/>
          </p:cNvPicPr>
          <p:nvPr>
            <p:ph sz="quarter" idx="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617" y="739587"/>
            <a:ext cx="2796991" cy="4681777"/>
          </a:xfrm>
        </p:spPr>
      </p:pic>
      <p:sp>
        <p:nvSpPr>
          <p:cNvPr id="33" name="Rectangle 32"/>
          <p:cNvSpPr/>
          <p:nvPr/>
        </p:nvSpPr>
        <p:spPr>
          <a:xfrm>
            <a:off x="10609729" y="807333"/>
            <a:ext cx="1487158" cy="48404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“What Happens in 10 Seconds?”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Show the entire project in a single timeline: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0s → Sensor reads soil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2s → ESP32 processes data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4s → Weather/rain condition checked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6s → AI makes decision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8s → Relay responds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10s → </a:t>
            </a:r>
            <a:r>
              <a:rPr lang="en-US" sz="1400" dirty="0" err="1">
                <a:solidFill>
                  <a:schemeClr val="tx1"/>
                </a:solidFill>
              </a:rPr>
              <a:t>Blynk</a:t>
            </a:r>
            <a:r>
              <a:rPr lang="en-US" sz="1400" dirty="0">
                <a:solidFill>
                  <a:schemeClr val="tx1"/>
                </a:solidFill>
              </a:rPr>
              <a:t> dashboard updates</a:t>
            </a:r>
          </a:p>
        </p:txBody>
      </p:sp>
    </p:spTree>
    <p:extLst>
      <p:ext uri="{BB962C8B-B14F-4D97-AF65-F5344CB8AC3E}">
        <p14:creationId xmlns:p14="http://schemas.microsoft.com/office/powerpoint/2010/main" val="2987590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588029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IN" sz="3200" dirty="0"/>
          </a:p>
        </p:txBody>
      </p:sp>
      <p:sp>
        <p:nvSpPr>
          <p:cNvPr id="4" name="Oval 3" descr="Your startup LOGO">
            <a:extLst>
              <a:ext uri="{FF2B5EF4-FFF2-40B4-BE49-F238E27FC236}">
                <a16:creationId xmlns="" xmlns:a16="http://schemas.microsoft.com/office/drawing/2014/main" xmlns:lc="http://schemas.openxmlformats.org/drawingml/2006/lockedCanvas" id="{5DBCE864-823D-4A13-9607-5DA1F0ED5FB8}"/>
              </a:ext>
              <a:ext uri="{C183D7F6-B498-43B3-948B-1728B52AA6E4}">
                <adec:decorative xmlns:adec="http://schemas.microsoft.com/office/drawing/2017/decorative" xmlns="" xmlns:lc="http://schemas.openxmlformats.org/drawingml/2006/lockedCanvas" val="0"/>
              </a:ext>
            </a:extLst>
          </p:cNvPr>
          <p:cNvSpPr/>
          <p:nvPr/>
        </p:nvSpPr>
        <p:spPr>
          <a:xfrm>
            <a:off x="554739" y="0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smtClean="0"/>
              <a:t>Team</a:t>
            </a:r>
          </a:p>
          <a:p>
            <a:pPr algn="ctr"/>
            <a:r>
              <a:rPr lang="en-US" sz="1200" b="1" dirty="0" smtClean="0"/>
              <a:t>AquaMind</a:t>
            </a:r>
            <a:endParaRPr lang="en-IN" sz="12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2160" y="0"/>
            <a:ext cx="1623279" cy="76648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8939" y="1723116"/>
            <a:ext cx="4760259" cy="1781734"/>
          </a:xfrm>
          <a:prstGeom prst="rect">
            <a:avLst/>
          </a:prstGeom>
        </p:spPr>
      </p:pic>
      <p:pic>
        <p:nvPicPr>
          <p:cNvPr id="14" name="Content Placeholder 13"/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5238"/>
            <a:ext cx="3639274" cy="5592762"/>
          </a:xfr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1265238"/>
            <a:ext cx="3505533" cy="5606209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8939" y="4639938"/>
            <a:ext cx="4649261" cy="18415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85819" y="941294"/>
            <a:ext cx="3267635" cy="3239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</a:rPr>
              <a:t>Feasibility</a:t>
            </a:r>
            <a:endParaRPr lang="en-IN" sz="28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577148" y="924813"/>
            <a:ext cx="3267635" cy="3239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chemeClr val="tx1"/>
                </a:solidFill>
              </a:rPr>
              <a:t>Viability</a:t>
            </a:r>
            <a:endParaRPr lang="en-IN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4933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3012" y="0"/>
            <a:ext cx="10515600" cy="70905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IN" sz="3200" dirty="0"/>
          </a:p>
        </p:txBody>
      </p:sp>
      <p:sp>
        <p:nvSpPr>
          <p:cNvPr id="4" name="Oval 3" descr="Your startup LOGO">
            <a:extLst>
              <a:ext uri="{FF2B5EF4-FFF2-40B4-BE49-F238E27FC236}">
                <a16:creationId xmlns="" xmlns:a16="http://schemas.microsoft.com/office/drawing/2014/main" xmlns:lc="http://schemas.openxmlformats.org/drawingml/2006/lockedCanvas" id="{5DBCE864-823D-4A13-9607-5DA1F0ED5FB8}"/>
              </a:ext>
              <a:ext uri="{C183D7F6-B498-43B3-948B-1728B52AA6E4}">
                <adec:decorative xmlns:adec="http://schemas.microsoft.com/office/drawing/2017/decorative" xmlns="" xmlns:lc="http://schemas.openxmlformats.org/drawingml/2006/lockedCanvas" val="0"/>
              </a:ext>
            </a:extLst>
          </p:cNvPr>
          <p:cNvSpPr/>
          <p:nvPr/>
        </p:nvSpPr>
        <p:spPr>
          <a:xfrm>
            <a:off x="769892" y="32628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smtClean="0"/>
              <a:t>Team</a:t>
            </a:r>
          </a:p>
          <a:p>
            <a:pPr algn="ctr"/>
            <a:r>
              <a:rPr lang="en-US" sz="1200" b="1" dirty="0" smtClean="0"/>
              <a:t>AquaMind</a:t>
            </a:r>
            <a:endParaRPr lang="en-IN" sz="12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5960" y="32628"/>
            <a:ext cx="1623279" cy="7664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82389" y="872590"/>
            <a:ext cx="5459506" cy="32153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 </a:t>
            </a:r>
            <a:r>
              <a:rPr lang="en-US" sz="3200" dirty="0">
                <a:solidFill>
                  <a:schemeClr val="tx1"/>
                </a:solidFill>
                <a:latin typeface="Algerian" panose="04020705040A02060702" pitchFamily="82" charset="0"/>
              </a:rPr>
              <a:t>Impact :</a:t>
            </a:r>
          </a:p>
          <a:p>
            <a:r>
              <a:rPr lang="en-US" b="1" dirty="0" smtClean="0">
                <a:solidFill>
                  <a:schemeClr val="tx1"/>
                </a:solidFill>
              </a:rPr>
              <a:t>1.Water </a:t>
            </a:r>
            <a:r>
              <a:rPr lang="en-US" b="1" dirty="0">
                <a:solidFill>
                  <a:schemeClr val="tx1"/>
                </a:solidFill>
              </a:rPr>
              <a:t>Conservation </a:t>
            </a:r>
            <a:r>
              <a:rPr lang="en-US" dirty="0">
                <a:solidFill>
                  <a:schemeClr val="tx1"/>
                </a:solidFill>
              </a:rPr>
              <a:t>– Reduces unnecessary water usage through precise irrigation.</a:t>
            </a:r>
          </a:p>
          <a:p>
            <a:r>
              <a:rPr lang="en-US" b="1" dirty="0" smtClean="0">
                <a:solidFill>
                  <a:schemeClr val="tx1"/>
                </a:solidFill>
              </a:rPr>
              <a:t>2.Higher </a:t>
            </a:r>
            <a:r>
              <a:rPr lang="en-US" b="1" dirty="0">
                <a:solidFill>
                  <a:schemeClr val="tx1"/>
                </a:solidFill>
              </a:rPr>
              <a:t>Crop Productivity </a:t>
            </a:r>
            <a:r>
              <a:rPr lang="en-US" dirty="0">
                <a:solidFill>
                  <a:schemeClr val="tx1"/>
                </a:solidFill>
              </a:rPr>
              <a:t>– Provides crops with the right amount of water at the right time.</a:t>
            </a:r>
          </a:p>
          <a:p>
            <a:r>
              <a:rPr lang="en-US" b="1" dirty="0" smtClean="0">
                <a:solidFill>
                  <a:schemeClr val="tx1"/>
                </a:solidFill>
              </a:rPr>
              <a:t>3.Sustainable </a:t>
            </a:r>
            <a:r>
              <a:rPr lang="en-US" b="1" dirty="0">
                <a:solidFill>
                  <a:schemeClr val="tx1"/>
                </a:solidFill>
              </a:rPr>
              <a:t>Farming </a:t>
            </a:r>
            <a:r>
              <a:rPr lang="en-US" dirty="0">
                <a:solidFill>
                  <a:schemeClr val="tx1"/>
                </a:solidFill>
              </a:rPr>
              <a:t>– Promotes efficient use of water and other agricultural resources.</a:t>
            </a:r>
          </a:p>
          <a:p>
            <a:r>
              <a:rPr lang="en-US" b="1" dirty="0" smtClean="0">
                <a:solidFill>
                  <a:schemeClr val="tx1"/>
                </a:solidFill>
              </a:rPr>
              <a:t>4.Climate </a:t>
            </a:r>
            <a:r>
              <a:rPr lang="en-US" b="1" dirty="0">
                <a:solidFill>
                  <a:schemeClr val="tx1"/>
                </a:solidFill>
              </a:rPr>
              <a:t>Adaptability </a:t>
            </a:r>
            <a:r>
              <a:rPr lang="en-US" dirty="0">
                <a:solidFill>
                  <a:schemeClr val="tx1"/>
                </a:solidFill>
              </a:rPr>
              <a:t>– Uses weather forecasts to adjust irrigation during rainfall, heat, or changing 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0" y="872590"/>
            <a:ext cx="5558118" cy="32153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latin typeface="Algerian" panose="04020705040A02060702" pitchFamily="82" charset="0"/>
              </a:rPr>
              <a:t>BENEFIT :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1.Automatic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Irrigation 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– Reduces the need for manual control of water pumps.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2.Real-Time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Monitoring 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– Farmers can monitor soil moisture, temperature, humidity and irrigation status remotely.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3.Cost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Reduction 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– Saves water, electricity and labor costs</a:t>
            </a:r>
          </a:p>
          <a:p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4.Smart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Decision Making 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– AI combines sensor and weather data to provide more accurate irrigation decisions</a:t>
            </a:r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12" y="4394884"/>
            <a:ext cx="6053280" cy="23151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96635" y="4251442"/>
            <a:ext cx="1922930" cy="25381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Useful :</a:t>
            </a:r>
          </a:p>
          <a:p>
            <a:pPr algn="ctr"/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</a:rPr>
              <a:t>Helps farmers make</a:t>
            </a:r>
          </a:p>
          <a:p>
            <a:pPr algn="ctr"/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</a:rPr>
              <a:t>Better irrigation</a:t>
            </a:r>
          </a:p>
          <a:p>
            <a:pPr algn="ctr"/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</a:rPr>
              <a:t>Decisions and improve crop growth.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88108" y="4251442"/>
            <a:ext cx="1922930" cy="25381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9195684" y="4546030"/>
            <a:ext cx="166954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Economical Benefits:</a:t>
            </a:r>
          </a:p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Saves water , electricity,</a:t>
            </a:r>
          </a:p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</a:p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Farming cost.</a:t>
            </a:r>
          </a:p>
          <a:p>
            <a:pPr algn="ctr"/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501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459" y="94129"/>
            <a:ext cx="10515600" cy="641817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smtClean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lang="en-IN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835" y="1075764"/>
            <a:ext cx="11443447" cy="56074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smtClean="0"/>
              <a:t>1.Problem statement : </a:t>
            </a:r>
          </a:p>
          <a:p>
            <a:pPr marL="0" indent="0">
              <a:buNone/>
            </a:pPr>
            <a:r>
              <a:rPr lang="en-US" sz="2000" dirty="0"/>
              <a:t>“The problem was identified through real-world observations and interactions with farmers, where we observed water wastage caused by irrigation based on fixed schedules rather than actual soil and weather conditions</a:t>
            </a:r>
            <a:r>
              <a:rPr lang="en-US" sz="2000" dirty="0" smtClean="0"/>
              <a:t>.”</a:t>
            </a:r>
            <a:endParaRPr lang="en-US" sz="2000" b="1" dirty="0" smtClean="0"/>
          </a:p>
          <a:p>
            <a:pPr marL="0" indent="0">
              <a:buNone/>
            </a:pPr>
            <a:r>
              <a:rPr lang="en-IN" sz="2000" dirty="0" smtClean="0"/>
              <a:t>2. Ali</a:t>
            </a:r>
            <a:r>
              <a:rPr lang="en-IN" sz="2000" dirty="0"/>
              <a:t>, </a:t>
            </a:r>
            <a:r>
              <a:rPr lang="en-IN" sz="2000" dirty="0" err="1"/>
              <a:t>Awais</a:t>
            </a:r>
            <a:r>
              <a:rPr lang="en-IN" sz="2000" dirty="0"/>
              <a:t>, </a:t>
            </a:r>
            <a:r>
              <a:rPr lang="en-IN" sz="2000" dirty="0" err="1"/>
              <a:t>Tajamul</a:t>
            </a:r>
            <a:r>
              <a:rPr lang="en-IN" sz="2000" dirty="0"/>
              <a:t> </a:t>
            </a:r>
            <a:r>
              <a:rPr lang="en-IN" sz="2000" dirty="0" err="1"/>
              <a:t>Hussain</a:t>
            </a:r>
            <a:r>
              <a:rPr lang="en-IN" sz="2000" dirty="0"/>
              <a:t>, and </a:t>
            </a:r>
            <a:r>
              <a:rPr lang="en-IN" sz="2000" dirty="0" err="1"/>
              <a:t>Azlan</a:t>
            </a:r>
            <a:r>
              <a:rPr lang="en-IN" sz="2000" dirty="0"/>
              <a:t> </a:t>
            </a:r>
            <a:r>
              <a:rPr lang="en-IN" sz="2000" dirty="0" err="1"/>
              <a:t>Zahid</a:t>
            </a:r>
            <a:r>
              <a:rPr lang="en-IN" sz="2000" dirty="0"/>
              <a:t>. "Smart irrigation technologies and prospects for enhancing water use efficiency for sustainable agriculture." </a:t>
            </a:r>
            <a:r>
              <a:rPr lang="en-IN" sz="2000" dirty="0" err="1"/>
              <a:t>AgriEngineering</a:t>
            </a:r>
            <a:r>
              <a:rPr lang="en-IN" sz="2000" dirty="0"/>
              <a:t> 7.4 </a:t>
            </a:r>
            <a:r>
              <a:rPr lang="en-IN" sz="2000" dirty="0" smtClean="0"/>
              <a:t>(2025):106. [</a:t>
            </a:r>
            <a:r>
              <a:rPr lang="en-IN" sz="2000" dirty="0"/>
              <a:t>https://</a:t>
            </a:r>
            <a:r>
              <a:rPr lang="en-IN" sz="2000" dirty="0" smtClean="0"/>
              <a:t>www.mdpi.com/2624-7402/7/4/106]</a:t>
            </a:r>
          </a:p>
          <a:p>
            <a:pPr marL="0" indent="0">
              <a:buNone/>
            </a:pPr>
            <a:r>
              <a:rPr lang="en-IN" sz="2000" dirty="0" smtClean="0"/>
              <a:t>3. </a:t>
            </a:r>
            <a:r>
              <a:rPr lang="en-IN" sz="2000" dirty="0" err="1" smtClean="0"/>
              <a:t>Blessy</a:t>
            </a:r>
            <a:r>
              <a:rPr lang="en-IN" sz="2000" dirty="0"/>
              <a:t>, J. </a:t>
            </a:r>
            <a:r>
              <a:rPr lang="en-IN" sz="2000" dirty="0" err="1"/>
              <a:t>Angelin</a:t>
            </a:r>
            <a:r>
              <a:rPr lang="en-IN" sz="2000" dirty="0"/>
              <a:t>. "Smart irrigation system techniques using artificial intelligence and </a:t>
            </a:r>
            <a:r>
              <a:rPr lang="en-IN" sz="2000" dirty="0" err="1"/>
              <a:t>IoT</a:t>
            </a:r>
            <a:r>
              <a:rPr lang="en-IN" sz="2000" dirty="0"/>
              <a:t>." 2021 Third International Conference on Intelligent Communication Technologies and Virtual Mobile </a:t>
            </a:r>
            <a:r>
              <a:rPr lang="en-IN" sz="2000" dirty="0" err="1" smtClean="0"/>
              <a:t>Networ</a:t>
            </a:r>
            <a:r>
              <a:rPr lang="en-IN" sz="2000" dirty="0"/>
              <a:t>): </a:t>
            </a:r>
            <a:r>
              <a:rPr lang="en-IN" sz="2000" dirty="0" err="1" smtClean="0"/>
              <a:t>ks</a:t>
            </a:r>
            <a:r>
              <a:rPr lang="en-IN" sz="2000" dirty="0" smtClean="0"/>
              <a:t> </a:t>
            </a:r>
            <a:r>
              <a:rPr lang="en-IN" sz="2000" dirty="0"/>
              <a:t>(ICICV). IEEE, 2021.[https://ieeexplore.ieee.org/abstract/document/9388444/]</a:t>
            </a:r>
            <a:endParaRPr lang="en-IN" sz="2000" dirty="0" smtClean="0"/>
          </a:p>
          <a:p>
            <a:pPr marL="0" indent="0">
              <a:buNone/>
            </a:pPr>
            <a:r>
              <a:rPr lang="en-IN" sz="2000" dirty="0" smtClean="0"/>
              <a:t>4.Kaushik</a:t>
            </a:r>
            <a:r>
              <a:rPr lang="en-IN" sz="2000" dirty="0"/>
              <a:t>, </a:t>
            </a:r>
            <a:r>
              <a:rPr lang="en-IN" sz="2000" dirty="0" err="1"/>
              <a:t>Shambhavi</a:t>
            </a:r>
            <a:r>
              <a:rPr lang="en-IN" sz="2000" dirty="0"/>
              <a:t>, and Karan Singh. "AI-driven smart irrigation and resource optimization for sustainable precision agriculture." Europe 250 (2025): 70.[https://www.jsiar.com/2025-May/JSIAR-M-25-05444.pdf]</a:t>
            </a:r>
            <a:endParaRPr lang="en-IN" sz="2000" dirty="0" smtClean="0"/>
          </a:p>
          <a:p>
            <a:pPr marL="0" indent="0">
              <a:buNone/>
            </a:pPr>
            <a:r>
              <a:rPr lang="en-US" sz="2000" dirty="0" smtClean="0"/>
              <a:t>5. </a:t>
            </a:r>
            <a:r>
              <a:rPr lang="en-US" sz="2000" dirty="0" err="1" smtClean="0"/>
              <a:t>ChatGPT</a:t>
            </a:r>
            <a:r>
              <a:rPr lang="en-US" sz="2000" dirty="0" smtClean="0"/>
              <a:t>.</a:t>
            </a:r>
            <a:endParaRPr lang="en-US" sz="2000" dirty="0" smtClean="0"/>
          </a:p>
          <a:p>
            <a:pPr marL="0" indent="0">
              <a:buNone/>
            </a:pPr>
            <a:r>
              <a:rPr lang="en-US" sz="2000" dirty="0" smtClean="0"/>
              <a:t>6. Perplexity.</a:t>
            </a:r>
          </a:p>
          <a:p>
            <a:pPr marL="0" indent="0">
              <a:buNone/>
            </a:pPr>
            <a:r>
              <a:rPr lang="en-US" sz="2000" dirty="0"/>
              <a:t>7. </a:t>
            </a:r>
            <a:r>
              <a:rPr lang="en-US" sz="2000" dirty="0">
                <a:hlinkClick r:id="rId2"/>
              </a:rPr>
              <a:t>https://</a:t>
            </a:r>
            <a:r>
              <a:rPr lang="en-US" sz="2000" dirty="0" smtClean="0">
                <a:hlinkClick r:id="rId2"/>
              </a:rPr>
              <a:t>youtu.be/pOB8-pi796I?si=WMq0YsQifSBO8Xcs</a:t>
            </a:r>
            <a:endParaRPr lang="en-US" sz="2000" dirty="0" smtClean="0"/>
          </a:p>
          <a:p>
            <a:pPr marL="0" indent="0">
              <a:buNone/>
            </a:pPr>
            <a:r>
              <a:rPr lang="en-US" sz="2000" dirty="0" smtClean="0"/>
              <a:t>8</a:t>
            </a:r>
            <a:r>
              <a:rPr lang="en-US" sz="2000" dirty="0"/>
              <a:t>. </a:t>
            </a:r>
            <a:r>
              <a:rPr lang="en-US" sz="2000" dirty="0">
                <a:hlinkClick r:id="rId3"/>
              </a:rPr>
              <a:t>https://</a:t>
            </a:r>
            <a:r>
              <a:rPr lang="en-US" sz="2000" dirty="0" smtClean="0">
                <a:hlinkClick r:id="rId3"/>
              </a:rPr>
              <a:t>www.codechef.com/learn/course/python</a:t>
            </a:r>
            <a:endParaRPr lang="en-US" sz="2000" dirty="0" smtClean="0"/>
          </a:p>
          <a:p>
            <a:pPr marL="0" indent="0">
              <a:buNone/>
            </a:pPr>
            <a:endParaRPr lang="en-US" sz="2000" dirty="0" smtClean="0"/>
          </a:p>
          <a:p>
            <a:pPr marL="0" indent="0">
              <a:buNone/>
            </a:pPr>
            <a:endParaRPr lang="en-IN" sz="2000" dirty="0"/>
          </a:p>
        </p:txBody>
      </p:sp>
      <p:sp>
        <p:nvSpPr>
          <p:cNvPr id="4" name="Oval 3" descr="Your startup LOGO">
            <a:extLst>
              <a:ext uri="{FF2B5EF4-FFF2-40B4-BE49-F238E27FC236}">
                <a16:creationId xmlns="" xmlns:a16="http://schemas.microsoft.com/office/drawing/2014/main" xmlns:lc="http://schemas.openxmlformats.org/drawingml/2006/lockedCanvas" id="{5DBCE864-823D-4A13-9607-5DA1F0ED5FB8}"/>
              </a:ext>
              <a:ext uri="{C183D7F6-B498-43B3-948B-1728B52AA6E4}">
                <adec:decorative xmlns:adec="http://schemas.microsoft.com/office/drawing/2017/decorative" xmlns="" xmlns:lc="http://schemas.openxmlformats.org/drawingml/2006/lockedCanvas" val="0"/>
              </a:ext>
            </a:extLst>
          </p:cNvPr>
          <p:cNvSpPr/>
          <p:nvPr/>
        </p:nvSpPr>
        <p:spPr>
          <a:xfrm>
            <a:off x="769892" y="8390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smtClean="0"/>
              <a:t>Team</a:t>
            </a:r>
          </a:p>
          <a:p>
            <a:pPr algn="ctr"/>
            <a:r>
              <a:rPr lang="en-US" sz="1200" b="1" dirty="0" smtClean="0"/>
              <a:t>AquaMind</a:t>
            </a:r>
            <a:endParaRPr lang="en-IN" sz="12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5960" y="32628"/>
            <a:ext cx="1623279" cy="76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224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559</Words>
  <Application>Microsoft Office PowerPoint</Application>
  <PresentationFormat>Widescreen</PresentationFormat>
  <Paragraphs>89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Algerian</vt:lpstr>
      <vt:lpstr>Arial</vt:lpstr>
      <vt:lpstr>Calibri</vt:lpstr>
      <vt:lpstr>Calibri Light</vt:lpstr>
      <vt:lpstr>Garamond</vt:lpstr>
      <vt:lpstr>Times New Roman</vt:lpstr>
      <vt:lpstr>Office Theme</vt:lpstr>
      <vt:lpstr>SMART INDIA HACKATHON 2026</vt:lpstr>
      <vt:lpstr>Proposed Solution</vt:lpstr>
      <vt:lpstr>TECHNICAL APPROACH</vt:lpstr>
      <vt:lpstr>FEASIBILITY AND VIABILITY</vt:lpstr>
      <vt:lpstr>IMPACT AND BENEFITS</vt:lpstr>
      <vt:lpstr>RESEARCH  AND REFERENCES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INDIA HACKATHON 2026</dc:title>
  <dc:creator>Sujit</dc:creator>
  <cp:lastModifiedBy>Sujit</cp:lastModifiedBy>
  <cp:revision>25</cp:revision>
  <dcterms:created xsi:type="dcterms:W3CDTF">2026-08-31T14:01:07Z</dcterms:created>
  <dcterms:modified xsi:type="dcterms:W3CDTF">2026-09-02T10:28:00Z</dcterms:modified>
</cp:coreProperties>
</file>